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Play" panose="020B0604020202020204" charset="0"/>
      <p:regular r:id="rId23"/>
      <p:bold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NhwmxLIegI6rpDKZqM9GIUoJS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15AE8C-95C3-4C9F-A5F9-F23B365864F0}">
  <a:tblStyle styleId="{1115AE8C-95C3-4C9F-A5F9-F23B365864F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71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44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822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22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39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91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82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6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8624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07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52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87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93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0" y="-2493"/>
            <a:ext cx="12192000" cy="132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РОССИЙСКОЙ ФЕДЕРАЦИИ</a:t>
            </a:r>
            <a:b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МОСКОВСКИЙ ГОСУДАРСТВЕННЫЙ УНИВЕРСИТЕТ ГЕОДЕЗИИ И КАРТОГРАФИИ (МИИГАИК)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6383547" y="4438880"/>
            <a:ext cx="5808453" cy="151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dirty="0"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 </a:t>
            </a: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>
              <a:buSzPct val="100000"/>
            </a:pPr>
            <a:r>
              <a:rPr lang="ru-RU" sz="2600" dirty="0" err="1">
                <a:latin typeface="Times New Roman"/>
                <a:ea typeface="Times New Roman"/>
                <a:cs typeface="Times New Roman"/>
                <a:sym typeface="Times New Roman"/>
              </a:rPr>
              <a:t>Бобоев</a:t>
            </a:r>
            <a:r>
              <a:rPr lang="ru-RU" sz="2600" dirty="0">
                <a:latin typeface="Times New Roman"/>
                <a:ea typeface="Times New Roman"/>
                <a:cs typeface="Times New Roman"/>
                <a:sym typeface="Times New Roman"/>
              </a:rPr>
              <a:t> Б.А.</a:t>
            </a:r>
            <a:br>
              <a:rPr lang="ru-RU" sz="2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6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Выполнил </a:t>
            </a:r>
            <a:r>
              <a:rPr lang="ru-RU" sz="2600" dirty="0">
                <a:latin typeface="Times New Roman"/>
                <a:ea typeface="Times New Roman"/>
                <a:cs typeface="Times New Roman"/>
                <a:sym typeface="Times New Roman"/>
              </a:rPr>
              <a:t>студент 2022-ФГиИБ ПИ-1б</a:t>
            </a: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>
              <a:buSzPct val="100000"/>
            </a:pPr>
            <a:r>
              <a:rPr lang="ru-RU" sz="2600" dirty="0">
                <a:latin typeface="Times New Roman"/>
                <a:ea typeface="Times New Roman"/>
                <a:cs typeface="Times New Roman"/>
                <a:sym typeface="Times New Roman"/>
              </a:rPr>
              <a:t>Еремина Светлана Владимировна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62839" y="1471220"/>
            <a:ext cx="11874673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Факультет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геоинформатики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информационной безопасности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информатики и геоинформационных технологий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ВЫПУСКНАЯ КВАЛИФИКАЦИОННАЯ РАБОТА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/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</a:t>
            </a:r>
            <a:r>
              <a:rPr lang="ru-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«Исследование методологий обнаружения сгенерированного контента на основе лингвистической </a:t>
            </a:r>
            <a:r>
              <a:rPr lang="ru-RU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</a:t>
            </a:r>
            <a:r>
              <a:rPr lang="ru-RU" sz="20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» </a:t>
            </a:r>
            <a:endParaRPr sz="2000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4352890" y="6386989"/>
            <a:ext cx="28423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Москва, 202</a:t>
            </a:r>
            <a:r>
              <a:rPr lang="ru-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3510" y="1"/>
            <a:ext cx="12192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Актуальность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idx="1"/>
          </p:nvPr>
        </p:nvSpPr>
        <p:spPr>
          <a:xfrm>
            <a:off x="266007" y="1544610"/>
            <a:ext cx="11571317" cy="367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В условиях стремительного распространения крупных языковых моделей (LLM), таких как 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ChatGPT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YandexGPT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Gemini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, всё больше студентов используют искусственный интеллект для написания учебных работ. Это создаёт серьёзные риски для академической честности: ИИ-сгенерированный контент трудно отличить от человеческого, особенно когда текст проходит дополнительную стилистическую правку.</a:t>
            </a:r>
            <a:endParaRPr sz="24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0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Цель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 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31767" y="1093371"/>
            <a:ext cx="1110580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ru-RU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-RU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</a:t>
            </a: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азработать веб-сервис для выявления вероятности генерации текста ИИ с использованием </a:t>
            </a:r>
            <a:r>
              <a:rPr lang="ru-RU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лингвистической </a:t>
            </a:r>
            <a:r>
              <a:rPr lang="ru-RU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анализ существующих методов </a:t>
            </a:r>
            <a:r>
              <a:rPr lang="ru-RU" sz="2400" b="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детекции</a:t>
            </a: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ИИ-контента.</a:t>
            </a:r>
          </a:p>
          <a:p>
            <a:pPr marL="342900" lvl="0" indent="-3429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Собрать и разметить сбалансированный </a:t>
            </a:r>
            <a:r>
              <a:rPr lang="ru-RU" sz="2400" b="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датасет</a:t>
            </a: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(студенческие работы + ИИ-тексты).</a:t>
            </a:r>
          </a:p>
          <a:p>
            <a:pPr marL="342900" lvl="0" indent="-3429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 и обучить модель на основе устойчивых лингвистических признаков.</a:t>
            </a:r>
          </a:p>
          <a:p>
            <a:pPr marL="342900" lvl="0" indent="-3429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веб-интерфейс с возможностью загрузки текста, получения вероятности и пояснения результата.</a:t>
            </a:r>
          </a:p>
          <a:p>
            <a:pPr marL="342900" lvl="0" indent="-342900" algn="just">
              <a:buClr>
                <a:schemeClr val="dk1"/>
              </a:buClr>
              <a:buSzPts val="2400"/>
              <a:buFont typeface="Arial"/>
              <a:buChar char="•"/>
            </a:pPr>
            <a:r>
              <a:rPr lang="ru-RU" sz="24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Обеспечить хранение истории проверок и управление пользователями (роли: студент, преподаватель, администратор).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83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Сравнение аналогов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 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939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14648" y="997486"/>
            <a:ext cx="749433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1. Сравнительный анализ</a:t>
            </a: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4"/>
          <p:cNvGraphicFramePr/>
          <p:nvPr>
            <p:extLst>
              <p:ext uri="{D42A27DB-BD31-4B8C-83A1-F6EECF244321}">
                <p14:modId xmlns:p14="http://schemas.microsoft.com/office/powerpoint/2010/main" val="145354456"/>
              </p:ext>
            </p:extLst>
          </p:nvPr>
        </p:nvGraphicFramePr>
        <p:xfrm>
          <a:off x="392979" y="1470164"/>
          <a:ext cx="11553215" cy="3844786"/>
        </p:xfrm>
        <a:graphic>
          <a:graphicData uri="http://schemas.openxmlformats.org/drawingml/2006/table">
            <a:tbl>
              <a:tblPr firstRow="1" bandRow="1">
                <a:noFill/>
                <a:tableStyleId>{1115AE8C-95C3-4C9F-A5F9-F23B365864F0}</a:tableStyleId>
              </a:tblPr>
              <a:tblGrid>
                <a:gridCol w="3182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8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3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488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Антиплагиат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онлайн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еТХТ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text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ru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8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Проверка на плагиат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8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Детекция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8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Повышение уникальности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±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±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8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Нейроинструменты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Проверка на плагиат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Бесплатная версия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±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есть ограничения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±</a:t>
                      </a:r>
                      <a:endParaRPr lang="ru-RU" sz="2400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есть ограничения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488347"/>
                  </a:ext>
                </a:extLst>
              </a:tr>
            </a:tbl>
          </a:graphicData>
        </a:graphic>
      </p:graphicFrame>
      <p:sp>
        <p:nvSpPr>
          <p:cNvPr id="123" name="Google Shape;123;p4"/>
          <p:cNvSpPr/>
          <p:nvPr/>
        </p:nvSpPr>
        <p:spPr>
          <a:xfrm>
            <a:off x="382438" y="5243278"/>
            <a:ext cx="60960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 оценок: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: функция реализована полностью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 : функция реализована частично или с ограничениями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: функция отсутствует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0" y="48"/>
            <a:ext cx="12192000" cy="104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Используемые технологии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53268" y="1030577"/>
            <a:ext cx="801687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Таблица 2. Перечень используемых инструментов</a:t>
            </a:r>
            <a:endParaRPr dirty="0"/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p5"/>
          <p:cNvGraphicFramePr/>
          <p:nvPr>
            <p:extLst>
              <p:ext uri="{D42A27DB-BD31-4B8C-83A1-F6EECF244321}">
                <p14:modId xmlns:p14="http://schemas.microsoft.com/office/powerpoint/2010/main" val="2958584946"/>
              </p:ext>
            </p:extLst>
          </p:nvPr>
        </p:nvGraphicFramePr>
        <p:xfrm>
          <a:off x="445698" y="1432183"/>
          <a:ext cx="11300625" cy="5062244"/>
        </p:xfrm>
        <a:graphic>
          <a:graphicData uri="http://schemas.openxmlformats.org/drawingml/2006/table">
            <a:tbl>
              <a:tblPr firstRow="1" bandRow="1">
                <a:noFill/>
                <a:tableStyleId>{1115AE8C-95C3-4C9F-A5F9-F23B365864F0}</a:tableStyleId>
              </a:tblPr>
              <a:tblGrid>
                <a:gridCol w="2936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2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6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Инструменты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Используемые технологии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Обоснование выбора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6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Архитектура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Монолитная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Проста 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разработке, тестировании и развёртывании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1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Технологический стек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ython</a:t>
                      </a: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</a:t>
                      </a:r>
                      <a:r>
                        <a:rPr lang="ru-RU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ostgreSQL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Python — 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стандарт в 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ML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PostgreSQL — 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надёжна, бесплатна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42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FastAPI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Docker</a:t>
                      </a:r>
                      <a:endParaRPr lang="ru-RU" sz="2000" dirty="0" smtClean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astAPI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 — высокая скорость и автоматическая документация API; 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 — единое окружение;</a:t>
                      </a:r>
                      <a:endParaRPr sz="2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1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Масштабируемость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Docker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Контейнеризация упрощает масштабирование; асинхронная обработка предотвращает блокировку при анализе больших текстов.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42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Безопасность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/>
                          <a:cs typeface="Times New Roman" panose="02020603050405020304" pitchFamily="18" charset="0"/>
                        </a:rPr>
                        <a:t>TLS/HTTPS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764226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0" y="34033"/>
            <a:ext cx="12191999" cy="967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Диаграмма вариантов </a:t>
            </a:r>
            <a:b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использования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sldNum" sz="quarter" idx="12"/>
          </p:nvPr>
        </p:nvSpPr>
        <p:spPr>
          <a:xfrm>
            <a:off x="10801865" y="6281781"/>
            <a:ext cx="5931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3439257" y="5912449"/>
            <a:ext cx="53134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1 – Диаграмма вариантов использования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" name="Рисунок 9" descr="C:\Users\Eremina\Downloads\диаграмма вариантов использования 2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510" y="1035284"/>
            <a:ext cx="9623586" cy="487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Диаграмма компонентов</a:t>
            </a:r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sldNum" sz="quarter" idx="12"/>
          </p:nvPr>
        </p:nvSpPr>
        <p:spPr>
          <a:xfrm>
            <a:off x="10760676" y="6291263"/>
            <a:ext cx="5931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3981450" y="6287056"/>
            <a:ext cx="4229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2 – Диаграмма компонентов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Рисунок 7" descr="C:\Users\Eremina\Downloads\диаграмма компонентов 2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966" y="895704"/>
            <a:ext cx="10114833" cy="5391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1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2607771" y="-121492"/>
            <a:ext cx="4655671" cy="113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Диаграмма классов</a:t>
            </a:r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sldNum" sz="quarter" idx="12"/>
          </p:nvPr>
        </p:nvSpPr>
        <p:spPr>
          <a:xfrm>
            <a:off x="10801865" y="6281781"/>
            <a:ext cx="5931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3977050" y="6498896"/>
            <a:ext cx="42378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3 – Диаграмма классов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Рисунок 7" descr="C:\Users\Eremina\Downloads\диаграмма классов 2.png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0"/>
          <a:stretch/>
        </p:blipFill>
        <p:spPr bwMode="auto">
          <a:xfrm>
            <a:off x="1308096" y="689608"/>
            <a:ext cx="9575800" cy="5957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Диаграмма состояний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9"/>
          <p:cNvSpPr txBox="1">
            <a:spLocks noGrp="1"/>
          </p:cNvSpPr>
          <p:nvPr>
            <p:ph type="sldNum" sz="quarter" idx="12"/>
          </p:nvPr>
        </p:nvSpPr>
        <p:spPr>
          <a:xfrm>
            <a:off x="10760676" y="6291263"/>
            <a:ext cx="5931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 txBox="1"/>
          <p:nvPr/>
        </p:nvSpPr>
        <p:spPr>
          <a:xfrm>
            <a:off x="3824652" y="6311533"/>
            <a:ext cx="4229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4 – Диаграмма состояний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Рисунок 7" descr="C:\Users\Eremina\Downloads\диаграмма последовательности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529" y="895703"/>
            <a:ext cx="9645445" cy="5395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xfrm>
            <a:off x="2173940" y="0"/>
            <a:ext cx="7844120" cy="99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Пример работы </a:t>
            </a: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веб-сервиса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0"/>
          <p:cNvSpPr txBox="1">
            <a:spLocks noGrp="1"/>
          </p:cNvSpPr>
          <p:nvPr>
            <p:ph type="sldNum" sz="quarter" idx="12"/>
          </p:nvPr>
        </p:nvSpPr>
        <p:spPr>
          <a:xfrm>
            <a:off x="8470900" y="63960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3367282" y="6255644"/>
            <a:ext cx="545743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5 – Главная страница (до проверки)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1775998" y="855644"/>
            <a:ext cx="8640000" cy="54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>
            <a:spLocks noGrp="1"/>
          </p:cNvSpPr>
          <p:nvPr>
            <p:ph type="title"/>
          </p:nvPr>
        </p:nvSpPr>
        <p:spPr>
          <a:xfrm>
            <a:off x="2173940" y="0"/>
            <a:ext cx="7844120" cy="99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Пример работы веб-сервиса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1"/>
          <p:cNvSpPr txBox="1">
            <a:spLocks noGrp="1"/>
          </p:cNvSpPr>
          <p:nvPr>
            <p:ph type="sldNum" sz="quarter" idx="12"/>
          </p:nvPr>
        </p:nvSpPr>
        <p:spPr>
          <a:xfrm>
            <a:off x="8470900" y="63960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3445939" y="6352483"/>
            <a:ext cx="530011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Рисунок 6 – Главная страница (после проверки)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1775998" y="895703"/>
            <a:ext cx="8640000" cy="54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0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Перспективы развития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idx="1"/>
          </p:nvPr>
        </p:nvSpPr>
        <p:spPr>
          <a:xfrm>
            <a:off x="609600" y="1739839"/>
            <a:ext cx="10972800" cy="383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Поддержка новых ИИ-генераторов через регулярное обновление 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датасетов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</a:p>
          <a:p>
            <a:pPr lvl="0" algn="just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Интеграция с LMS;</a:t>
            </a:r>
          </a:p>
          <a:p>
            <a:pPr lvl="0" algn="just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OCR-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модуль для анализа сканов;</a:t>
            </a:r>
          </a:p>
          <a:p>
            <a:pPr lvl="0" algn="just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Мультиязычная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 поддержка (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английскийи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 др.).</a:t>
            </a:r>
            <a:endParaRPr dirty="0"/>
          </a:p>
        </p:txBody>
      </p:sp>
      <p:sp>
        <p:nvSpPr>
          <p:cNvPr id="242" name="Google Shape;242;p16"/>
          <p:cNvSpPr txBox="1">
            <a:spLocks noGrp="1"/>
          </p:cNvSpPr>
          <p:nvPr>
            <p:ph type="sldNum" sz="quarter" idx="12"/>
          </p:nvPr>
        </p:nvSpPr>
        <p:spPr>
          <a:xfrm>
            <a:off x="8648700" y="62611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7"/>
          <p:cNvSpPr txBox="1">
            <a:spLocks noGrp="1"/>
          </p:cNvSpPr>
          <p:nvPr>
            <p:ph idx="1"/>
          </p:nvPr>
        </p:nvSpPr>
        <p:spPr>
          <a:xfrm>
            <a:off x="838200" y="13223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В ходе работы были выполнены все поставленные задачи:</a:t>
            </a:r>
            <a:endParaRPr dirty="0"/>
          </a:p>
          <a:p>
            <a:pPr lvl="0" algn="just">
              <a:buClr>
                <a:schemeClr val="dk1"/>
              </a:buClr>
              <a:buSzPts val="2400"/>
            </a:pP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Разработан функциональный веб-сервис для 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детекции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 ИИ-сгенерированного контента в учебной среде.</a:t>
            </a:r>
          </a:p>
          <a:p>
            <a:pPr lvl="0" algn="just">
              <a:buClr>
                <a:schemeClr val="dk1"/>
              </a:buClr>
              <a:buSzPts val="2400"/>
            </a:pP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Реализованы все ключевые 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адачи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, подтверждённые контрольными точками.</a:t>
            </a:r>
          </a:p>
          <a:p>
            <a:pPr lvl="0" algn="just">
              <a:buClr>
                <a:schemeClr val="dk1"/>
              </a:buClr>
              <a:buSzPts val="2400"/>
            </a:pP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Достигнута точность ≥ 80% на релевантном </a:t>
            </a:r>
            <a:r>
              <a:rPr lang="ru-RU" sz="24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датасете</a:t>
            </a:r>
            <a:r>
              <a:rPr lang="ru-RU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 с поддержкой объяснений.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7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28491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685011" cy="89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 txBox="1">
            <a:spLocks noGrp="1"/>
          </p:cNvSpPr>
          <p:nvPr>
            <p:ph type="title"/>
          </p:nvPr>
        </p:nvSpPr>
        <p:spPr>
          <a:xfrm>
            <a:off x="0" y="1717589"/>
            <a:ext cx="12192000" cy="2458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lay"/>
              <a:buNone/>
            </a:pPr>
            <a:r>
              <a:rPr lang="ru-RU" sz="8000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480</Words>
  <Application>Microsoft Office PowerPoint</Application>
  <PresentationFormat>Широкоэкранный</PresentationFormat>
  <Paragraphs>116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Play</vt:lpstr>
      <vt:lpstr>Aptos</vt:lpstr>
      <vt:lpstr>Тема Office</vt:lpstr>
      <vt:lpstr>МИНИСТЕРСТВО НАУКИ И ВЫСШЕГО ОБРАЗОВАНИЯ РОССИЙСКОЙ ФЕДЕРАЦИИ   МОСКОВСКИЙ ГОСУДАРСТВЕННЫЙ УНИВЕРСИТЕТ ГЕОДЕЗИИ И КАРТОГРАФИИ (МИИГАИК)</vt:lpstr>
      <vt:lpstr>Актуальность</vt:lpstr>
      <vt:lpstr>Цель и задачи</vt:lpstr>
      <vt:lpstr>Сравнение аналогов</vt:lpstr>
      <vt:lpstr>Используемые технологии</vt:lpstr>
      <vt:lpstr>Диаграмма вариантов  использования</vt:lpstr>
      <vt:lpstr>Диаграмма компонентов</vt:lpstr>
      <vt:lpstr>Диаграмма классов</vt:lpstr>
      <vt:lpstr>Диаграмма состояний</vt:lpstr>
      <vt:lpstr>Пример работы веб-сервиса</vt:lpstr>
      <vt:lpstr>Пример работы веб-сервиса</vt:lpstr>
      <vt:lpstr>Перспективы развития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  МОСКОВСКИЙ ГОСУДАРСТВЕННЫЙ УНИВЕРСИТЕТ ГЕОДЕЗИИ И КАРТОГРАФИИ (МИИГАИК)</dc:title>
  <dc:creator>Александр Леонов</dc:creator>
  <cp:lastModifiedBy>Eremina</cp:lastModifiedBy>
  <cp:revision>7</cp:revision>
  <dcterms:created xsi:type="dcterms:W3CDTF">2024-06-02T07:22:00Z</dcterms:created>
  <dcterms:modified xsi:type="dcterms:W3CDTF">2025-12-24T10:47:53Z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77BFF69503794A858173DF9268A1A17D_13</vt:lpwstr>
  </property>
  <property fmtid="{D5CDD505-2E9C-101B-9397-08002B2CF9AE}" pid="3" name="KSOProductBuildVer">
    <vt:lpwstr>1033-12.2.0.13472</vt:lpwstr>
  </property>
</Properties>
</file>